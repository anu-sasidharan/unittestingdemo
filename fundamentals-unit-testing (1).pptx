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7778" autoAdjust="0"/>
  </p:normalViewPr>
  <p:slideViewPr>
    <p:cSldViewPr snapToGrid="0" snapToObjects="1">
      <p:cViewPr varScale="1">
        <p:scale>
          <a:sx n="85" d="100"/>
          <a:sy n="85" d="100"/>
        </p:scale>
        <p:origin x="137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82251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[</a:t>
            </a:r>
            <a:r>
              <a:rPr lang="en-GB" dirty="0" err="1"/>
              <a:t>OneTimeSetUp</a:t>
            </a:r>
            <a:r>
              <a:rPr lang="en-GB" dirty="0"/>
              <a:t>]</a:t>
            </a:r>
          </a:p>
          <a:p>
            <a:r>
              <a:rPr lang="en-GB" dirty="0"/>
              <a:t>This runs </a:t>
            </a:r>
            <a:r>
              <a:rPr lang="en-GB" b="1" dirty="0"/>
              <a:t>exactly once</a:t>
            </a:r>
            <a:r>
              <a:rPr lang="en-GB" dirty="0"/>
              <a:t> before any of the tests in a specific class (</a:t>
            </a:r>
            <a:r>
              <a:rPr lang="en-GB" dirty="0" err="1"/>
              <a:t>TestFixture</a:t>
            </a:r>
            <a:r>
              <a:rPr lang="en-GB" dirty="0"/>
              <a:t>) start.</a:t>
            </a:r>
          </a:p>
          <a:p>
            <a:r>
              <a:rPr lang="en-GB" b="1" dirty="0"/>
              <a:t>Best Use:</a:t>
            </a:r>
            <a:r>
              <a:rPr lang="en-GB" dirty="0"/>
              <a:t> Expensive operations that only need to happen once, like connecting to a database, starting a web server, or reading a large configuration file.</a:t>
            </a:r>
          </a:p>
          <a:p>
            <a:endParaRPr lang="en-US" dirty="0"/>
          </a:p>
          <a:p>
            <a:r>
              <a:rPr lang="en-GB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</a:t>
            </a:r>
            <a:r>
              <a:rPr lang="en-GB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SetUp</a:t>
            </a:r>
            <a:r>
              <a:rPr lang="en-GB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]</a:t>
            </a:r>
            <a:endParaRPr lang="en-GB" b="1" dirty="0"/>
          </a:p>
          <a:p>
            <a:r>
              <a:rPr lang="en-GB" dirty="0"/>
              <a:t>This runs </a:t>
            </a:r>
            <a:r>
              <a:rPr lang="en-GB" b="1" dirty="0"/>
              <a:t>before every individual test method</a:t>
            </a:r>
            <a:r>
              <a:rPr lang="en-GB" dirty="0"/>
              <a:t>. If you have 10 tests, this runs 10 times.</a:t>
            </a:r>
          </a:p>
          <a:p>
            <a:r>
              <a:rPr lang="en-GB" b="1" dirty="0"/>
              <a:t>Best Use:</a:t>
            </a:r>
            <a:r>
              <a:rPr lang="en-GB" dirty="0"/>
              <a:t> Resetting variables, creating a fresh instance of a class, or clearing out a list so that one test doesn't accidentally affect the result of the next one (Isolation).</a:t>
            </a:r>
          </a:p>
          <a:p>
            <a:endParaRPr lang="en-US" dirty="0"/>
          </a:p>
          <a:p>
            <a:r>
              <a:rPr lang="en-GB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</a:t>
            </a:r>
            <a:r>
              <a:rPr lang="en-GB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TearDown</a:t>
            </a:r>
            <a:r>
              <a:rPr lang="en-GB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]</a:t>
            </a:r>
            <a:endParaRPr lang="en-GB" b="1" dirty="0"/>
          </a:p>
          <a:p>
            <a:r>
              <a:rPr lang="en-GB" dirty="0"/>
              <a:t>This runs </a:t>
            </a:r>
            <a:r>
              <a:rPr lang="en-GB" b="1" dirty="0"/>
              <a:t>after every individual test method</a:t>
            </a:r>
            <a:r>
              <a:rPr lang="en-GB" dirty="0"/>
              <a:t>, regardless of whether the test passed or failed.</a:t>
            </a:r>
          </a:p>
          <a:p>
            <a:r>
              <a:rPr lang="en-GB" b="1" dirty="0"/>
              <a:t>Best Use:</a:t>
            </a:r>
            <a:r>
              <a:rPr lang="en-GB" dirty="0"/>
              <a:t> Closing files, logging results, or resetting "dirty" data.</a:t>
            </a:r>
          </a:p>
          <a:p>
            <a:endParaRPr lang="en-US" dirty="0"/>
          </a:p>
          <a:p>
            <a:r>
              <a:rPr lang="en-GB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</a:t>
            </a:r>
            <a:r>
              <a:rPr lang="en-GB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OneTimeTearDown</a:t>
            </a:r>
            <a:r>
              <a:rPr lang="en-GB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]</a:t>
            </a:r>
            <a:endParaRPr lang="en-GB" b="1" dirty="0"/>
          </a:p>
          <a:p>
            <a:r>
              <a:rPr lang="en-GB" dirty="0"/>
              <a:t>This runs </a:t>
            </a:r>
            <a:r>
              <a:rPr lang="en-GB" b="1" dirty="0"/>
              <a:t>exactly once</a:t>
            </a:r>
            <a:r>
              <a:rPr lang="en-GB" dirty="0"/>
              <a:t> after all tests in the class have finished.</a:t>
            </a:r>
          </a:p>
          <a:p>
            <a:r>
              <a:rPr lang="en-GB" b="1" dirty="0"/>
              <a:t>Best Use:</a:t>
            </a:r>
            <a:r>
              <a:rPr lang="en-GB" dirty="0"/>
              <a:t> Disposing of the database connection, stopping the web server, or deleting temporary folders created during </a:t>
            </a:r>
            <a:r>
              <a:rPr lang="en-GB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OneTimeSetUp</a:t>
            </a:r>
            <a:r>
              <a:rPr lang="en-GB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Testing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Text 5"/>
          <p:cNvSpPr/>
          <p:nvPr/>
        </p:nvSpPr>
        <p:spPr>
          <a:xfrm>
            <a:off x="457200" y="4846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Characteristics of Good Unit Tests — FIRST Principle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1536192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" y="685800"/>
            <a:ext cx="1536192" cy="7772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749808"/>
            <a:ext cx="1536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74320" y="1536192"/>
            <a:ext cx="1536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85216" y="2011680"/>
            <a:ext cx="91440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47472" y="2148840"/>
            <a:ext cx="1389888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test runs in milliseconds.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slow test suite means nobody runs it.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993392" y="685800"/>
            <a:ext cx="1536192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1993392" y="685800"/>
            <a:ext cx="1536192" cy="7772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993392" y="749808"/>
            <a:ext cx="1536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1993392" y="1536192"/>
            <a:ext cx="1536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304288" y="2011680"/>
            <a:ext cx="914400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2066544" y="2148840"/>
            <a:ext cx="1389888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don't depend on each other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on external systems like databases.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712464" y="685800"/>
            <a:ext cx="1536192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3712464" y="685800"/>
            <a:ext cx="1536192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712464" y="749808"/>
            <a:ext cx="1536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3712464" y="1536192"/>
            <a:ext cx="1536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Repeatable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023360" y="2011680"/>
            <a:ext cx="9144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785616" y="2148840"/>
            <a:ext cx="1389888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result every single run.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inconsistent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that pass sometimes.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31536" y="685800"/>
            <a:ext cx="1536192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5431536" y="685800"/>
            <a:ext cx="1536192" cy="7772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431536" y="749808"/>
            <a:ext cx="1536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5431536" y="1536192"/>
            <a:ext cx="1536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Self-validating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742432" y="2011680"/>
            <a:ext cx="914400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504688" y="2148840"/>
            <a:ext cx="1389888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or Fail — no manual checking.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 itself decides the verdict.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150608" y="685800"/>
            <a:ext cx="1536192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7150608" y="685800"/>
            <a:ext cx="1536192" cy="7772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7150608" y="749808"/>
            <a:ext cx="1536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3600" dirty="0"/>
          </a:p>
        </p:txBody>
      </p:sp>
      <p:sp>
        <p:nvSpPr>
          <p:cNvPr id="31" name="Text 29"/>
          <p:cNvSpPr/>
          <p:nvPr/>
        </p:nvSpPr>
        <p:spPr>
          <a:xfrm>
            <a:off x="7150608" y="1536192"/>
            <a:ext cx="1536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Timely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461504" y="2011680"/>
            <a:ext cx="914400" cy="457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7223760" y="2148840"/>
            <a:ext cx="1389888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close to when the code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written — not months later.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Test and What NOT to Test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397764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" y="685800"/>
            <a:ext cx="3977640" cy="5029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11480" y="758952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Test THIS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36118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business logic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cases in your code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 you wrote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you implemented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branches (if/else)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2926080"/>
            <a:ext cx="3703320" cy="868680"/>
          </a:xfrm>
          <a:prstGeom prst="rect">
            <a:avLst/>
          </a:prstGeom>
          <a:solidFill>
            <a:srgbClr val="F0FFF4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48640" y="2999232"/>
            <a:ext cx="3429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Rule: If YOU wrote the logic,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test it.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92040" y="685800"/>
            <a:ext cx="397764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892040" y="685800"/>
            <a:ext cx="3977640" cy="502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029200" y="758952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Skip THIS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29200" y="1298448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built-in methods (List.Count etc.)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library methods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getters and setters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code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internals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0" y="2926080"/>
            <a:ext cx="3703320" cy="868680"/>
          </a:xfrm>
          <a:prstGeom prst="rect">
            <a:avLst/>
          </a:prstGeom>
          <a:solidFill>
            <a:srgbClr val="FFF1F2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166360" y="2999232"/>
            <a:ext cx="3429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Microsoft already tested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List.Count — trust them!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and Organizing Tests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40080"/>
            <a:ext cx="841248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758952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Naming Pattern:   MethodName _ Scenario _ ExpectedResult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39776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65760" y="1463040"/>
            <a:ext cx="3977640" cy="43891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02920" y="1536192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Good Names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993392"/>
            <a:ext cx="379476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48640" y="2057400"/>
            <a:ext cx="3611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Add_TwoPositiveNumbers_ReturnsSum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Divide_ByZero_ThrowsException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GetUser_InvalidId_ReturnsNull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Login_WrongPassword_ReturnsFalse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00600" y="1463040"/>
            <a:ext cx="39776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800600" y="1463040"/>
            <a:ext cx="3977640" cy="43891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937760" y="1536192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Bad Names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892040" y="1993392"/>
            <a:ext cx="370332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983480" y="2057400"/>
            <a:ext cx="3520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Test1()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AddTest()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CheckIfItWorks()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MyTest()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886200"/>
            <a:ext cx="8412480" cy="1005840"/>
          </a:xfrm>
          <a:prstGeom prst="rect">
            <a:avLst/>
          </a:prstGeom>
          <a:solidFill>
            <a:srgbClr val="E0F2FE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48640" y="41605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Structure:   MyApp.Tests mirrors MyApp  —  one test class per production class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Testing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40080"/>
            <a:ext cx="8412480" cy="594360"/>
          </a:xfrm>
          <a:prstGeom prst="rect">
            <a:avLst/>
          </a:prstGeom>
          <a:solidFill>
            <a:srgbClr val="E0F2FE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🎰  Analogy: Like a vending machine — you put in coins (input) and get a snack (output). You don't care about the internal mechanism.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32004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74320" y="1371600"/>
            <a:ext cx="32004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11480" y="144475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Principle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920240"/>
            <a:ext cx="29260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care about INPUT → OUTPUT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test HOW it works internally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stay valid even if you refactor internals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tests more maintainable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749040" y="1371600"/>
            <a:ext cx="5029200" cy="33832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886200" y="1508760"/>
            <a:ext cx="4754880" cy="3063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We only feed inputs &amp; check outputs
</a:t>
            </a: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[Test]
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</a:t>
            </a: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IsValid_StrongPassword_ReturnsTrue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bool result = _v.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IsValid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("Secure123");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.That(result, </a:t>
            </a: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</a:t>
            </a: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.True);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We don't care HOW IsValid()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checks the password internally!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and Tear Down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4114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" y="685800"/>
            <a:ext cx="4114800" cy="47548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11480" y="758952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[SetUp]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468880" y="777240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EVERY test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280160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fresh object for each test.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commonly used.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685800"/>
            <a:ext cx="4114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709160" y="685800"/>
            <a:ext cx="4114800" cy="47548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846320" y="758952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[TearDown]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903720" y="777240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EVERY test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1280160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Releases resources, closes connections,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resets state.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2834640"/>
            <a:ext cx="4114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74320" y="2834640"/>
            <a:ext cx="4114800" cy="4754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11480" y="2907792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[OneTimeSetUp]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468880" y="2926080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before ALL tests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" y="3429000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expensive setup — loading config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creating heavy objects.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09160" y="2834640"/>
            <a:ext cx="4114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709160" y="2834640"/>
            <a:ext cx="4114800" cy="47548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846320" y="2907792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[OneTimeTearDown]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03720" y="2926080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after ALL tests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46320" y="3429000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cleanup after the entire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class is done.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4663440"/>
            <a:ext cx="8412480" cy="548640"/>
          </a:xfrm>
          <a:prstGeom prst="rect">
            <a:avLst/>
          </a:prstGeom>
          <a:solidFill>
            <a:srgbClr val="E0F2FE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02920" y="4754880"/>
            <a:ext cx="8138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Use [SetUp] when each test needs a fresh object. Use [OneTimeSetUp] when setup is expensive and safe to share.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Parameterized Tests — [TestCase]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21792"/>
            <a:ext cx="8412480" cy="548640"/>
          </a:xfrm>
          <a:prstGeom prst="rect">
            <a:avLst/>
          </a:prstGeom>
          <a:solidFill>
            <a:srgbClr val="E0F2FE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8138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Instead of writing the same test 10 times with different values — use [TestCase] to run one test with many inputs.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39776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74320" y="1325880"/>
            <a:ext cx="3977640" cy="43891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11480" y="1399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Without — Repetitive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856232"/>
            <a:ext cx="3794760" cy="27432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57200" y="1920240"/>
            <a:ext cx="3611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[Test]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IsValid_Abc12345_True()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Assert.That(_v.IsValid("Abc12345"),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Is.True);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[Test]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IsValid_Hello999X_True()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Assert.That(_v.IsValid("Hello999X"),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Is.True);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...and so on!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00600" y="1325880"/>
            <a:ext cx="39776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800600" y="1325880"/>
            <a:ext cx="3977640" cy="43891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937760" y="1399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With [TestCase] — Clean!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92040" y="1856232"/>
            <a:ext cx="3794760" cy="27432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983480" y="1920240"/>
            <a:ext cx="3611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[TestCase("Secure123",  true)]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[TestCase("Hello999X",  true)]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[TestCase("nouppercase",false)]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[TestCase("NoDigits!",  false)]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[TestCase("Ab1",        false)]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IsValid_Returns_Expected(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 password, bool expected)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bool result =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_v.IsValid(password);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Assert.That(result,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Is.EqualTo(expected));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Ignoring Tests — [Ignore]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8412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Temporarily skips a test — it still appears in Test Explorer but is marked as skipped, not failed.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920240"/>
            <a:ext cx="8412480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02920" y="2011680"/>
            <a:ext cx="81381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[Test]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[Ignore("Feature not implemented yet — revisit in Sprint 3")]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ApplyPromoCode_ValidCode_AppliesDiscountCorrectly()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result = _orderService.ApplyPromoCode("SAVE20");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Assert.That(result.Discount, Is.EqualTo(20));   // Skipped, not failed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3886200"/>
            <a:ext cx="8412480" cy="1005840"/>
          </a:xfrm>
          <a:prstGeom prst="rect">
            <a:avLst/>
          </a:prstGeom>
          <a:solidFill>
            <a:srgbClr val="FFF7ED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48640" y="39776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Warning: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42976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use [Ignore] to hide failing tests. Use it ONLY for genuinely incomplete features — and always add a reason string so your team knows why.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Trustworthy Tests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658368"/>
            <a:ext cx="39776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" y="658368"/>
            <a:ext cx="3977640" cy="411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11480" y="72237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Untrustworthy — always passes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161288"/>
            <a:ext cx="379476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75488" y="1234440"/>
            <a:ext cx="35661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result = calc.Add(2, 3);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Too vague — passes even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if result is wrong!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Assert.That(result,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Is.GreaterThan(0));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658368"/>
            <a:ext cx="39776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800600" y="658368"/>
            <a:ext cx="3977640" cy="4114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937760" y="72237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Trustworthy — precise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92040" y="1161288"/>
            <a:ext cx="370332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001768" y="1234440"/>
            <a:ext cx="35204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result = calc.Add(2, 3);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Exact — catches any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wrong answer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Assert.That(result,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Is.EqualTo(5));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154680"/>
            <a:ext cx="8549640" cy="1737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57200" y="321868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Rules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36118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test that never fails is useless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Test ONE concept per method 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if/else or loops inside tests</a:t>
            </a: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assertions SPECIFIC — not just 'greater than 0’   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Deliberately break code to verify the test fails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Summary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475488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02920" y="996696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Principle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00400" y="996696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Isolated, Repeatable, Self-validating, Timely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435608"/>
            <a:ext cx="8412480" cy="475488"/>
          </a:xfrm>
          <a:prstGeom prst="rect">
            <a:avLst/>
          </a:prstGeom>
          <a:solidFill>
            <a:srgbClr val="1A2B52"/>
          </a:solidFill>
          <a:ln w="12700">
            <a:solidFill>
              <a:srgbClr val="1A2B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02920" y="1517904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Test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0" y="1517904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logic only — not framework or third-party code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956816"/>
            <a:ext cx="8412480" cy="475488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02920" y="203911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0" y="2039112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MethodName_Scenario_ExpectedResult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478024"/>
            <a:ext cx="8412480" cy="475488"/>
          </a:xfrm>
          <a:prstGeom prst="rect">
            <a:avLst/>
          </a:prstGeom>
          <a:solidFill>
            <a:srgbClr val="1A2B52"/>
          </a:solidFill>
          <a:ln w="12700">
            <a:solidFill>
              <a:srgbClr val="1A2B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02920" y="2560320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Testing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00400" y="256032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→ Output — don't care about internals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999232"/>
            <a:ext cx="8412480" cy="475488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02920" y="3081528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/ TearDown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00400" y="3081528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state before each test with [SetUp]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520440"/>
            <a:ext cx="8412480" cy="475488"/>
          </a:xfrm>
          <a:prstGeom prst="rect">
            <a:avLst/>
          </a:prstGeom>
          <a:solidFill>
            <a:srgbClr val="1A2B52"/>
          </a:solidFill>
          <a:ln w="12700">
            <a:solidFill>
              <a:srgbClr val="1A2B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02920" y="3602736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Parameterized Tests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00400" y="3602736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[TestCase] to avoid repetition across same logic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4041648"/>
            <a:ext cx="8412480" cy="475488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02920" y="4123944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Ignoring Tests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00400" y="4123944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[Ignore] for incomplete features — never to hide failures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4562856"/>
            <a:ext cx="8412480" cy="475488"/>
          </a:xfrm>
          <a:prstGeom prst="rect">
            <a:avLst/>
          </a:prstGeom>
          <a:solidFill>
            <a:srgbClr val="1A2B52"/>
          </a:solidFill>
          <a:ln w="12700">
            <a:solidFill>
              <a:srgbClr val="1A2B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50292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Trustworthy Tests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200400" y="4645152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 assertions — fail for exactly the right reason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1155</Words>
  <Application>Microsoft Office PowerPoint</Application>
  <PresentationFormat>On-screen Show (16:9)</PresentationFormat>
  <Paragraphs>192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Fundamentals of Unit Testing</dc:title>
  <dc:subject>PptxGenJS Presentation</dc:subject>
  <dc:creator>PptxGenJS</dc:creator>
  <cp:lastModifiedBy>S, Anu (Contractor)</cp:lastModifiedBy>
  <cp:revision>7</cp:revision>
  <dcterms:created xsi:type="dcterms:W3CDTF">2026-03-30T21:29:19Z</dcterms:created>
  <dcterms:modified xsi:type="dcterms:W3CDTF">2026-04-01T03:44:24Z</dcterms:modified>
</cp:coreProperties>
</file>